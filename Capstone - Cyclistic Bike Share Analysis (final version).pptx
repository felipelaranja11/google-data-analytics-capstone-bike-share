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61" r:id="rId6"/>
    <p:sldId id="264" r:id="rId7"/>
    <p:sldId id="262" r:id="rId8"/>
    <p:sldId id="268" r:id="rId9"/>
    <p:sldId id="269" r:id="rId10"/>
    <p:sldId id="265" r:id="rId11"/>
    <p:sldId id="270" r:id="rId12"/>
    <p:sldId id="266" r:id="rId13"/>
  </p:sldIdLst>
  <p:sldSz cx="14630400" cy="8229600"/>
  <p:notesSz cx="8229600" cy="14630400"/>
  <p:embeddedFontLst>
    <p:embeddedFont>
      <p:font typeface="Platypi Medium" panose="020B0604020202020204" charset="0"/>
      <p:regular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Source Serif Pro" panose="02040603050405020204" pitchFamily="18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D5E0C4-8CEF-48FA-997A-4B12B59FC442}" v="1" dt="2025-01-29T20:59:50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19" autoAdjust="0"/>
    <p:restoredTop sz="94610"/>
  </p:normalViewPr>
  <p:slideViewPr>
    <p:cSldViewPr snapToGrid="0" snapToObjects="1">
      <p:cViewPr>
        <p:scale>
          <a:sx n="33" d="100"/>
          <a:sy n="33" d="100"/>
        </p:scale>
        <p:origin x="342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aranja" userId="709cf2fe3a48acb0" providerId="LiveId" clId="{B2D5E0C4-8CEF-48FA-997A-4B12B59FC442}"/>
    <pc:docChg chg="undo custSel addSld delSld modSld">
      <pc:chgData name="Felipe Laranja" userId="709cf2fe3a48acb0" providerId="LiveId" clId="{B2D5E0C4-8CEF-48FA-997A-4B12B59FC442}" dt="2025-01-29T21:13:02.247" v="182" actId="1037"/>
      <pc:docMkLst>
        <pc:docMk/>
      </pc:docMkLst>
      <pc:sldChg chg="modSp mod">
        <pc:chgData name="Felipe Laranja" userId="709cf2fe3a48acb0" providerId="LiveId" clId="{B2D5E0C4-8CEF-48FA-997A-4B12B59FC442}" dt="2025-01-29T20:45:15.856" v="19" actId="403"/>
        <pc:sldMkLst>
          <pc:docMk/>
          <pc:sldMk cId="0" sldId="256"/>
        </pc:sldMkLst>
        <pc:spChg chg="mod">
          <ac:chgData name="Felipe Laranja" userId="709cf2fe3a48acb0" providerId="LiveId" clId="{B2D5E0C4-8CEF-48FA-997A-4B12B59FC442}" dt="2025-01-29T20:45:15.856" v="19" actId="403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Felipe Laranja" userId="709cf2fe3a48acb0" providerId="LiveId" clId="{B2D5E0C4-8CEF-48FA-997A-4B12B59FC442}" dt="2025-01-29T21:11:49.754" v="157" actId="1076"/>
        <pc:sldMkLst>
          <pc:docMk/>
          <pc:sldMk cId="0" sldId="257"/>
        </pc:sldMkLst>
        <pc:spChg chg="mod">
          <ac:chgData name="Felipe Laranja" userId="709cf2fe3a48acb0" providerId="LiveId" clId="{B2D5E0C4-8CEF-48FA-997A-4B12B59FC442}" dt="2025-01-29T21:11:49.754" v="157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1:11:49.754" v="157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0:53:14.170" v="65" actId="108"/>
          <ac:spMkLst>
            <pc:docMk/>
            <pc:sldMk cId="0" sldId="257"/>
            <ac:spMk id="6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1:11:30.133" v="155" actId="1076"/>
          <ac:spMkLst>
            <pc:docMk/>
            <pc:sldMk cId="0" sldId="257"/>
            <ac:spMk id="7" creationId="{00000000-0000-0000-0000-000000000000}"/>
          </ac:spMkLst>
        </pc:spChg>
        <pc:picChg chg="mod">
          <ac:chgData name="Felipe Laranja" userId="709cf2fe3a48acb0" providerId="LiveId" clId="{B2D5E0C4-8CEF-48FA-997A-4B12B59FC442}" dt="2025-01-29T21:11:49.754" v="157" actId="1076"/>
          <ac:picMkLst>
            <pc:docMk/>
            <pc:sldMk cId="0" sldId="257"/>
            <ac:picMk id="14" creationId="{FF82DD05-4A33-B8EE-DF93-A15DB10BC1FC}"/>
          </ac:picMkLst>
        </pc:picChg>
      </pc:sldChg>
      <pc:sldChg chg="modSp mod">
        <pc:chgData name="Felipe Laranja" userId="709cf2fe3a48acb0" providerId="LiveId" clId="{B2D5E0C4-8CEF-48FA-997A-4B12B59FC442}" dt="2025-01-29T21:12:32.394" v="158" actId="1076"/>
        <pc:sldMkLst>
          <pc:docMk/>
          <pc:sldMk cId="0" sldId="258"/>
        </pc:sldMkLst>
        <pc:spChg chg="mod">
          <ac:chgData name="Felipe Laranja" userId="709cf2fe3a48acb0" providerId="LiveId" clId="{B2D5E0C4-8CEF-48FA-997A-4B12B59FC442}" dt="2025-01-29T20:45:49.253" v="25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0:53:49.139" v="72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0:53:49.139" v="72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0:53:49.139" v="72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0:53:49.139" v="72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0:53:49.139" v="72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0:53:49.139" v="72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0:53:49.139" v="72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0:53:37.975" v="71" actId="108"/>
          <ac:spMkLst>
            <pc:docMk/>
            <pc:sldMk cId="0" sldId="258"/>
            <ac:spMk id="14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0:53:49.139" v="72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1:12:32.394" v="158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0:47:08.630" v="39" actId="113"/>
          <ac:spMkLst>
            <pc:docMk/>
            <pc:sldMk cId="0" sldId="258"/>
            <ac:spMk id="19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0:53:54.008" v="73" actId="1076"/>
          <ac:spMkLst>
            <pc:docMk/>
            <pc:sldMk cId="0" sldId="258"/>
            <ac:spMk id="20" creationId="{470E5A2B-DD42-B508-E7D7-7B3762D74194}"/>
          </ac:spMkLst>
        </pc:spChg>
      </pc:sldChg>
      <pc:sldChg chg="addSp modSp mod">
        <pc:chgData name="Felipe Laranja" userId="709cf2fe3a48acb0" providerId="LiveId" clId="{B2D5E0C4-8CEF-48FA-997A-4B12B59FC442}" dt="2025-01-29T21:03:27.664" v="115" actId="113"/>
        <pc:sldMkLst>
          <pc:docMk/>
          <pc:sldMk cId="0" sldId="261"/>
        </pc:sldMkLst>
        <pc:spChg chg="mod">
          <ac:chgData name="Felipe Laranja" userId="709cf2fe3a48acb0" providerId="LiveId" clId="{B2D5E0C4-8CEF-48FA-997A-4B12B59FC442}" dt="2025-01-29T20:54:32.426" v="78" actId="120"/>
          <ac:spMkLst>
            <pc:docMk/>
            <pc:sldMk cId="0" sldId="261"/>
            <ac:spMk id="3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1:00:57.013" v="111" actId="113"/>
          <ac:spMkLst>
            <pc:docMk/>
            <pc:sldMk cId="0" sldId="261"/>
            <ac:spMk id="4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0:54:39.116" v="79" actId="108"/>
          <ac:spMkLst>
            <pc:docMk/>
            <pc:sldMk cId="0" sldId="261"/>
            <ac:spMk id="5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1:03:27.664" v="115" actId="113"/>
          <ac:spMkLst>
            <pc:docMk/>
            <pc:sldMk cId="0" sldId="261"/>
            <ac:spMk id="6" creationId="{00000000-0000-0000-0000-000000000000}"/>
          </ac:spMkLst>
        </pc:spChg>
        <pc:picChg chg="mod modCrop">
          <ac:chgData name="Felipe Laranja" userId="709cf2fe3a48acb0" providerId="LiveId" clId="{B2D5E0C4-8CEF-48FA-997A-4B12B59FC442}" dt="2025-01-29T21:00:15.154" v="106" actId="1076"/>
          <ac:picMkLst>
            <pc:docMk/>
            <pc:sldMk cId="0" sldId="261"/>
            <ac:picMk id="7" creationId="{9AE35379-281E-DCDE-76E9-770EA8ADFFDB}"/>
          </ac:picMkLst>
        </pc:picChg>
        <pc:picChg chg="add mod modCrop">
          <ac:chgData name="Felipe Laranja" userId="709cf2fe3a48acb0" providerId="LiveId" clId="{B2D5E0C4-8CEF-48FA-997A-4B12B59FC442}" dt="2025-01-29T21:00:29.444" v="107" actId="1076"/>
          <ac:picMkLst>
            <pc:docMk/>
            <pc:sldMk cId="0" sldId="261"/>
            <ac:picMk id="9" creationId="{06894696-B76E-3D64-BDD5-A67C31345F19}"/>
          </ac:picMkLst>
        </pc:picChg>
      </pc:sldChg>
      <pc:sldChg chg="modSp mod">
        <pc:chgData name="Felipe Laranja" userId="709cf2fe3a48acb0" providerId="LiveId" clId="{B2D5E0C4-8CEF-48FA-997A-4B12B59FC442}" dt="2025-01-29T21:05:52.735" v="128" actId="113"/>
        <pc:sldMkLst>
          <pc:docMk/>
          <pc:sldMk cId="0" sldId="262"/>
        </pc:sldMkLst>
        <pc:spChg chg="mod">
          <ac:chgData name="Felipe Laranja" userId="709cf2fe3a48acb0" providerId="LiveId" clId="{B2D5E0C4-8CEF-48FA-997A-4B12B59FC442}" dt="2025-01-29T21:05:52.735" v="128" actId="113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Felipe Laranja" userId="709cf2fe3a48acb0" providerId="LiveId" clId="{B2D5E0C4-8CEF-48FA-997A-4B12B59FC442}" dt="2025-01-29T21:05:09.484" v="122" actId="113"/>
        <pc:sldMkLst>
          <pc:docMk/>
          <pc:sldMk cId="0" sldId="264"/>
        </pc:sldMkLst>
        <pc:spChg chg="mod">
          <ac:chgData name="Felipe Laranja" userId="709cf2fe3a48acb0" providerId="LiveId" clId="{B2D5E0C4-8CEF-48FA-997A-4B12B59FC442}" dt="2025-01-29T21:05:09.484" v="122" actId="113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Felipe Laranja" userId="709cf2fe3a48acb0" providerId="LiveId" clId="{B2D5E0C4-8CEF-48FA-997A-4B12B59FC442}" dt="2025-01-29T21:09:57.450" v="151" actId="113"/>
        <pc:sldMkLst>
          <pc:docMk/>
          <pc:sldMk cId="0" sldId="265"/>
        </pc:sldMkLst>
        <pc:spChg chg="mod">
          <ac:chgData name="Felipe Laranja" userId="709cf2fe3a48acb0" providerId="LiveId" clId="{B2D5E0C4-8CEF-48FA-997A-4B12B59FC442}" dt="2025-01-29T21:09:57.450" v="151" actId="113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Felipe Laranja" userId="709cf2fe3a48acb0" providerId="LiveId" clId="{B2D5E0C4-8CEF-48FA-997A-4B12B59FC442}" dt="2025-01-29T20:57:07.874" v="91" actId="1076"/>
        <pc:sldMkLst>
          <pc:docMk/>
          <pc:sldMk cId="0" sldId="266"/>
        </pc:sldMkLst>
        <pc:spChg chg="mod">
          <ac:chgData name="Felipe Laranja" userId="709cf2fe3a48acb0" providerId="LiveId" clId="{B2D5E0C4-8CEF-48FA-997A-4B12B59FC442}" dt="2025-01-29T20:57:07.874" v="91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Felipe Laranja" userId="709cf2fe3a48acb0" providerId="LiveId" clId="{B2D5E0C4-8CEF-48FA-997A-4B12B59FC442}" dt="2025-01-29T20:57:07.874" v="91" actId="107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Felipe Laranja" userId="709cf2fe3a48acb0" providerId="LiveId" clId="{B2D5E0C4-8CEF-48FA-997A-4B12B59FC442}" dt="2025-01-29T21:13:02.247" v="182" actId="1037"/>
        <pc:sldMkLst>
          <pc:docMk/>
          <pc:sldMk cId="4027577149" sldId="267"/>
        </pc:sldMkLst>
        <pc:spChg chg="mod">
          <ac:chgData name="Felipe Laranja" userId="709cf2fe3a48acb0" providerId="LiveId" clId="{B2D5E0C4-8CEF-48FA-997A-4B12B59FC442}" dt="2025-01-29T20:50:30.099" v="50" actId="14100"/>
          <ac:spMkLst>
            <pc:docMk/>
            <pc:sldMk cId="4027577149" sldId="267"/>
            <ac:spMk id="6" creationId="{38300228-6F5B-5361-BDA9-2907FF80D6F3}"/>
          </ac:spMkLst>
        </pc:spChg>
        <pc:spChg chg="mod">
          <ac:chgData name="Felipe Laranja" userId="709cf2fe3a48acb0" providerId="LiveId" clId="{B2D5E0C4-8CEF-48FA-997A-4B12B59FC442}" dt="2025-01-29T21:13:02.247" v="182" actId="1037"/>
          <ac:spMkLst>
            <pc:docMk/>
            <pc:sldMk cId="4027577149" sldId="267"/>
            <ac:spMk id="7" creationId="{B1600749-6D8C-5BF8-09FB-0488C67F7064}"/>
          </ac:spMkLst>
        </pc:spChg>
        <pc:spChg chg="mod">
          <ac:chgData name="Felipe Laranja" userId="709cf2fe3a48acb0" providerId="LiveId" clId="{B2D5E0C4-8CEF-48FA-997A-4B12B59FC442}" dt="2025-01-29T21:13:02.247" v="182" actId="1037"/>
          <ac:spMkLst>
            <pc:docMk/>
            <pc:sldMk cId="4027577149" sldId="267"/>
            <ac:spMk id="8" creationId="{D405C33F-65DB-F20B-42D3-932E8A4630C4}"/>
          </ac:spMkLst>
        </pc:spChg>
        <pc:spChg chg="mod">
          <ac:chgData name="Felipe Laranja" userId="709cf2fe3a48acb0" providerId="LiveId" clId="{B2D5E0C4-8CEF-48FA-997A-4B12B59FC442}" dt="2025-01-29T21:13:02.247" v="182" actId="1037"/>
          <ac:spMkLst>
            <pc:docMk/>
            <pc:sldMk cId="4027577149" sldId="267"/>
            <ac:spMk id="9" creationId="{2D1BDFD9-4322-2B9A-05A0-803A5BF15AA2}"/>
          </ac:spMkLst>
        </pc:spChg>
        <pc:spChg chg="mod">
          <ac:chgData name="Felipe Laranja" userId="709cf2fe3a48acb0" providerId="LiveId" clId="{B2D5E0C4-8CEF-48FA-997A-4B12B59FC442}" dt="2025-01-29T21:13:02.247" v="182" actId="1037"/>
          <ac:spMkLst>
            <pc:docMk/>
            <pc:sldMk cId="4027577149" sldId="267"/>
            <ac:spMk id="10" creationId="{E98ED639-448B-29A1-C52B-360280217037}"/>
          </ac:spMkLst>
        </pc:spChg>
        <pc:spChg chg="mod">
          <ac:chgData name="Felipe Laranja" userId="709cf2fe3a48acb0" providerId="LiveId" clId="{B2D5E0C4-8CEF-48FA-997A-4B12B59FC442}" dt="2025-01-29T20:58:16.943" v="96" actId="113"/>
          <ac:spMkLst>
            <pc:docMk/>
            <pc:sldMk cId="4027577149" sldId="267"/>
            <ac:spMk id="11" creationId="{6F2A5B62-03E8-D3D5-02C3-60990B2802E7}"/>
          </ac:spMkLst>
        </pc:spChg>
        <pc:spChg chg="mod">
          <ac:chgData name="Felipe Laranja" userId="709cf2fe3a48acb0" providerId="LiveId" clId="{B2D5E0C4-8CEF-48FA-997A-4B12B59FC442}" dt="2025-01-29T20:50:35.244" v="51" actId="1076"/>
          <ac:spMkLst>
            <pc:docMk/>
            <pc:sldMk cId="4027577149" sldId="267"/>
            <ac:spMk id="12" creationId="{2FA05DAB-EF37-3F8B-7F33-BFBEC4349A30}"/>
          </ac:spMkLst>
        </pc:spChg>
      </pc:sldChg>
      <pc:sldChg chg="modSp mod">
        <pc:chgData name="Felipe Laranja" userId="709cf2fe3a48acb0" providerId="LiveId" clId="{B2D5E0C4-8CEF-48FA-997A-4B12B59FC442}" dt="2025-01-29T21:06:38.397" v="134" actId="113"/>
        <pc:sldMkLst>
          <pc:docMk/>
          <pc:sldMk cId="1927672235" sldId="268"/>
        </pc:sldMkLst>
        <pc:spChg chg="mod">
          <ac:chgData name="Felipe Laranja" userId="709cf2fe3a48acb0" providerId="LiveId" clId="{B2D5E0C4-8CEF-48FA-997A-4B12B59FC442}" dt="2025-01-29T21:06:38.397" v="134" actId="113"/>
          <ac:spMkLst>
            <pc:docMk/>
            <pc:sldMk cId="1927672235" sldId="268"/>
            <ac:spMk id="4" creationId="{BF755307-4CAF-BDCF-F539-616F1128AB3A}"/>
          </ac:spMkLst>
        </pc:spChg>
      </pc:sldChg>
      <pc:sldChg chg="modSp mod">
        <pc:chgData name="Felipe Laranja" userId="709cf2fe3a48acb0" providerId="LiveId" clId="{B2D5E0C4-8CEF-48FA-997A-4B12B59FC442}" dt="2025-01-29T21:07:55.202" v="140" actId="113"/>
        <pc:sldMkLst>
          <pc:docMk/>
          <pc:sldMk cId="1487779596" sldId="269"/>
        </pc:sldMkLst>
        <pc:spChg chg="mod">
          <ac:chgData name="Felipe Laranja" userId="709cf2fe3a48acb0" providerId="LiveId" clId="{B2D5E0C4-8CEF-48FA-997A-4B12B59FC442}" dt="2025-01-29T20:55:40.799" v="82" actId="120"/>
          <ac:spMkLst>
            <pc:docMk/>
            <pc:sldMk cId="1487779596" sldId="269"/>
            <ac:spMk id="3" creationId="{617783E8-9155-4669-E1F1-579F4EE7144F}"/>
          </ac:spMkLst>
        </pc:spChg>
        <pc:spChg chg="mod">
          <ac:chgData name="Felipe Laranja" userId="709cf2fe3a48acb0" providerId="LiveId" clId="{B2D5E0C4-8CEF-48FA-997A-4B12B59FC442}" dt="2025-01-29T21:07:35.647" v="138" actId="113"/>
          <ac:spMkLst>
            <pc:docMk/>
            <pc:sldMk cId="1487779596" sldId="269"/>
            <ac:spMk id="4" creationId="{73F95AD9-55E5-4FE0-59EE-9676BC56245E}"/>
          </ac:spMkLst>
        </pc:spChg>
        <pc:spChg chg="mod">
          <ac:chgData name="Felipe Laranja" userId="709cf2fe3a48acb0" providerId="LiveId" clId="{B2D5E0C4-8CEF-48FA-997A-4B12B59FC442}" dt="2025-01-29T20:55:53.805" v="83" actId="108"/>
          <ac:spMkLst>
            <pc:docMk/>
            <pc:sldMk cId="1487779596" sldId="269"/>
            <ac:spMk id="5" creationId="{C4D627C2-D991-61F7-38BB-93EB593357D2}"/>
          </ac:spMkLst>
        </pc:spChg>
        <pc:spChg chg="mod">
          <ac:chgData name="Felipe Laranja" userId="709cf2fe3a48acb0" providerId="LiveId" clId="{B2D5E0C4-8CEF-48FA-997A-4B12B59FC442}" dt="2025-01-29T21:07:55.202" v="140" actId="113"/>
          <ac:spMkLst>
            <pc:docMk/>
            <pc:sldMk cId="1487779596" sldId="269"/>
            <ac:spMk id="6" creationId="{F4B51980-D5B9-63AB-4A67-DF98E79351DB}"/>
          </ac:spMkLst>
        </pc:spChg>
      </pc:sldChg>
      <pc:sldChg chg="modSp mod">
        <pc:chgData name="Felipe Laranja" userId="709cf2fe3a48acb0" providerId="LiveId" clId="{B2D5E0C4-8CEF-48FA-997A-4B12B59FC442}" dt="2025-01-29T21:10:30.475" v="153" actId="113"/>
        <pc:sldMkLst>
          <pc:docMk/>
          <pc:sldMk cId="4099005444" sldId="270"/>
        </pc:sldMkLst>
        <pc:spChg chg="mod">
          <ac:chgData name="Felipe Laranja" userId="709cf2fe3a48acb0" providerId="LiveId" clId="{B2D5E0C4-8CEF-48FA-997A-4B12B59FC442}" dt="2025-01-29T21:10:30.475" v="153" actId="113"/>
          <ac:spMkLst>
            <pc:docMk/>
            <pc:sldMk cId="4099005444" sldId="270"/>
            <ac:spMk id="8" creationId="{8D0AD7E1-4F60-8736-8BED-E1C1FED607B9}"/>
          </ac:spMkLst>
        </pc:spChg>
      </pc:sldChg>
      <pc:sldChg chg="new del">
        <pc:chgData name="Felipe Laranja" userId="709cf2fe3a48acb0" providerId="LiveId" clId="{B2D5E0C4-8CEF-48FA-997A-4B12B59FC442}" dt="2025-01-29T21:05:23.815" v="124" actId="680"/>
        <pc:sldMkLst>
          <pc:docMk/>
          <pc:sldMk cId="357036315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63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35398-2B70-B20A-FA17-963D4D84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0B688-CC2E-A0F2-0FD5-AD5A447AC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1E5B2-C4E8-51B9-9E39-A849E98E8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BE1F3-04BA-3E2C-811A-E31F81D82E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8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57201-06BB-2AF8-C23D-586F73B3F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F0807-05DE-710F-9A91-25717575F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DD3B0-6A25-A286-F48A-3F5AF870A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EFAD2-8C8F-D4BE-CA9A-47628C8799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30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6AE97-ADBE-2257-8E92-E729511CE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684CC-9CD7-623B-28A6-D24F870EB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4C153-5918-8CB3-5956-721A78DDB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822E3-FD06-ECC6-A94C-9E485BBC8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39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7CCD-2304-262F-D560-9FC0697F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D7F975-2FAA-304B-89BB-C1CEB3964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42B99-6D17-343B-92E2-C74C29F12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F5028-4881-9FBC-CDB5-84A615193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34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Cyclistic Bike Share Analysis: A Deep Dive into User Patterns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This presentation explores the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usage patterns of Cyclistic's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bike sharing system,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comparing annual members and casual riders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. We aim to uncover key insights to guide marketing strategies and drive future growth.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9361D1-CFB3-53D1-704B-CB5D64DC62EE}"/>
              </a:ext>
            </a:extLst>
          </p:cNvPr>
          <p:cNvSpPr/>
          <p:nvPr/>
        </p:nvSpPr>
        <p:spPr>
          <a:xfrm>
            <a:off x="12903200" y="7765143"/>
            <a:ext cx="1625600" cy="348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59579" y="555587"/>
            <a:ext cx="8026241" cy="1854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Understanding User Patterns: Annual Members vs. Casual Users</a:t>
            </a:r>
          </a:p>
        </p:txBody>
      </p:sp>
      <p:sp>
        <p:nvSpPr>
          <p:cNvPr id="4" name="Text 1"/>
          <p:cNvSpPr/>
          <p:nvPr/>
        </p:nvSpPr>
        <p:spPr>
          <a:xfrm>
            <a:off x="8245038" y="3039264"/>
            <a:ext cx="2292668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245037" y="3446705"/>
            <a:ext cx="5260897" cy="109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Cyclistic offers various membership options, but they seek to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understand the distinct usage patterns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of annual members and casual users.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038" y="5472698"/>
            <a:ext cx="2292668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45038" y="5936589"/>
            <a:ext cx="5260896" cy="1090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This analysis aims to examine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usage patterns by user type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to inform effective marketing strategies for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converting casual users into members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B0DBE8-180A-07C6-4069-58AF055F7A15}"/>
              </a:ext>
            </a:extLst>
          </p:cNvPr>
          <p:cNvSpPr/>
          <p:nvPr/>
        </p:nvSpPr>
        <p:spPr>
          <a:xfrm>
            <a:off x="12903200" y="7765143"/>
            <a:ext cx="1625600" cy="348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A0D7321-F2B9-1AF8-0737-11EAADC2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673"/>
          <a:stretch/>
        </p:blipFill>
        <p:spPr>
          <a:xfrm>
            <a:off x="6051313" y="5389655"/>
            <a:ext cx="2047532" cy="1767590"/>
          </a:xfrm>
          <a:prstGeom prst="rect">
            <a:avLst/>
          </a:prstGeom>
        </p:spPr>
      </p:pic>
      <p:pic>
        <p:nvPicPr>
          <p:cNvPr id="14" name="Picture 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82DD05-4A33-B8EE-DF93-A15DB10BC1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5402"/>
          <a:stretch/>
        </p:blipFill>
        <p:spPr>
          <a:xfrm>
            <a:off x="6280842" y="3070625"/>
            <a:ext cx="1588474" cy="1343808"/>
          </a:xfrm>
          <a:prstGeom prst="rect">
            <a:avLst/>
          </a:prstGeom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D3E26A44-52CE-537E-2A99-29F0C0C90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22" r="23456"/>
          <a:stretch/>
        </p:blipFill>
        <p:spPr bwMode="auto">
          <a:xfrm>
            <a:off x="0" y="0"/>
            <a:ext cx="5486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424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875" y="3337133"/>
            <a:ext cx="13816925" cy="635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Description: A Deep Dive into Our Dataset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11875" y="4581763"/>
            <a:ext cx="457557" cy="457557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72133" y="4657963"/>
            <a:ext cx="136922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72791" y="4581763"/>
            <a:ext cx="2542461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Data Period</a:t>
            </a:r>
          </a:p>
        </p:txBody>
      </p:sp>
      <p:sp>
        <p:nvSpPr>
          <p:cNvPr id="7" name="Text 4"/>
          <p:cNvSpPr/>
          <p:nvPr/>
        </p:nvSpPr>
        <p:spPr>
          <a:xfrm>
            <a:off x="1372791" y="5021460"/>
            <a:ext cx="5840730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 dataset spans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October 2023 to October 2024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, encompassing a full year of Cyclistic bike usage.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416879" y="4581763"/>
            <a:ext cx="457557" cy="457557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547134" y="4657963"/>
            <a:ext cx="197048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077795" y="4581763"/>
            <a:ext cx="2542461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Data Mass</a:t>
            </a:r>
          </a:p>
        </p:txBody>
      </p:sp>
      <p:sp>
        <p:nvSpPr>
          <p:cNvPr id="11" name="Text 8"/>
          <p:cNvSpPr/>
          <p:nvPr/>
        </p:nvSpPr>
        <p:spPr>
          <a:xfrm>
            <a:off x="8077795" y="5002998"/>
            <a:ext cx="5840730" cy="11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 dataset is comprehensive, including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information on user type, station locations, trip durations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, and other vital details.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11875" y="6104096"/>
            <a:ext cx="457557" cy="457557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45463" y="6180296"/>
            <a:ext cx="19038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372791" y="6104096"/>
            <a:ext cx="2542461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Data Consistency</a:t>
            </a:r>
          </a:p>
        </p:txBody>
      </p:sp>
      <p:sp>
        <p:nvSpPr>
          <p:cNvPr id="15" name="Text 12"/>
          <p:cNvSpPr/>
          <p:nvPr/>
        </p:nvSpPr>
        <p:spPr>
          <a:xfrm>
            <a:off x="1372791" y="6543793"/>
            <a:ext cx="5840730" cy="113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Data quality was ensured through thorough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checks for duplicates and missing values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, resulting in a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reliable analysis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.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7416879" y="6104096"/>
            <a:ext cx="457557" cy="457557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544038" y="6180296"/>
            <a:ext cx="20312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077795" y="6165114"/>
            <a:ext cx="2542461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5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Tools Used</a:t>
            </a:r>
          </a:p>
        </p:txBody>
      </p:sp>
      <p:sp>
        <p:nvSpPr>
          <p:cNvPr id="19" name="Text 16"/>
          <p:cNvSpPr/>
          <p:nvPr/>
        </p:nvSpPr>
        <p:spPr>
          <a:xfrm>
            <a:off x="8077795" y="6543793"/>
            <a:ext cx="5840730" cy="113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This analysis leveraged powerful tools such as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R, BigQuery, and Tableau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for data manipulation, analysis, and visualization.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0E5A2B-DD42-B508-E7D7-7B3762D74194}"/>
              </a:ext>
            </a:extLst>
          </p:cNvPr>
          <p:cNvSpPr/>
          <p:nvPr/>
        </p:nvSpPr>
        <p:spPr>
          <a:xfrm>
            <a:off x="12903200" y="7773868"/>
            <a:ext cx="1625600" cy="348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B86E8-62B1-3C3A-5E8B-9D1D52AA8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2" descr="Sheet 2">
            <a:extLst>
              <a:ext uri="{FF2B5EF4-FFF2-40B4-BE49-F238E27FC236}">
                <a16:creationId xmlns:a16="http://schemas.microsoft.com/office/drawing/2014/main" id="{3FAD355D-AC51-7A23-9F7D-0BEB5D140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029" y="1"/>
            <a:ext cx="4528026" cy="822960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38300228-6F5B-5361-BDA9-2907FF80D6F3}"/>
              </a:ext>
            </a:extLst>
          </p:cNvPr>
          <p:cNvSpPr/>
          <p:nvPr/>
        </p:nvSpPr>
        <p:spPr>
          <a:xfrm>
            <a:off x="6280189" y="1666027"/>
            <a:ext cx="7556421" cy="1702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Usage per User Type: Unveiling the Patterns</a:t>
            </a:r>
            <a:endParaRPr lang="en-US" sz="44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1600749-6D8C-5BF8-09FB-0488C67F7064}"/>
              </a:ext>
            </a:extLst>
          </p:cNvPr>
          <p:cNvSpPr/>
          <p:nvPr/>
        </p:nvSpPr>
        <p:spPr>
          <a:xfrm>
            <a:off x="5631255" y="3537095"/>
            <a:ext cx="3608070" cy="898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4.1M</a:t>
            </a:r>
            <a:endParaRPr lang="en-US" sz="58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405C33F-65DB-F20B-42D3-932E8A4630C4}"/>
              </a:ext>
            </a:extLst>
          </p:cNvPr>
          <p:cNvSpPr/>
          <p:nvPr/>
        </p:nvSpPr>
        <p:spPr>
          <a:xfrm>
            <a:off x="6017613" y="4568890"/>
            <a:ext cx="2835235" cy="425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algn="ctr">
              <a:lnSpc>
                <a:spcPts val="25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Member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D1BDFD9-4322-2B9A-05A0-803A5BF15AA2}"/>
              </a:ext>
            </a:extLst>
          </p:cNvPr>
          <p:cNvSpPr/>
          <p:nvPr/>
        </p:nvSpPr>
        <p:spPr>
          <a:xfrm>
            <a:off x="9579486" y="3537095"/>
            <a:ext cx="3608189" cy="898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2.3M</a:t>
            </a:r>
            <a:endParaRPr lang="en-US" sz="58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98ED639-448B-29A1-C52B-360280217037}"/>
              </a:ext>
            </a:extLst>
          </p:cNvPr>
          <p:cNvSpPr/>
          <p:nvPr/>
        </p:nvSpPr>
        <p:spPr>
          <a:xfrm>
            <a:off x="9965963" y="4568890"/>
            <a:ext cx="2835235" cy="425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Casual</a:t>
            </a: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6F2A5B62-03E8-D3D5-02C3-60990B2802E7}"/>
              </a:ext>
            </a:extLst>
          </p:cNvPr>
          <p:cNvSpPr/>
          <p:nvPr/>
        </p:nvSpPr>
        <p:spPr>
          <a:xfrm>
            <a:off x="6280189" y="5178371"/>
            <a:ext cx="7556421" cy="2257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Annual members have significantly more rides than casual users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, indicating a higher level of engagement with the service.</a:t>
            </a:r>
            <a:endParaRPr lang="en-US" dirty="0">
              <a:solidFill>
                <a:srgbClr val="504C49"/>
              </a:solidFill>
              <a:latin typeface="Source Serif Pro" pitchFamily="34" charset="0"/>
              <a:ea typeface="Source Serif Pro" pitchFamily="34" charset="-122"/>
            </a:endParaRPr>
          </a:p>
          <a:p>
            <a:pPr>
              <a:lnSpc>
                <a:spcPts val="2850"/>
              </a:lnSpc>
            </a:pPr>
            <a:endParaRPr lang="en-US" dirty="0">
              <a:solidFill>
                <a:srgbClr val="504C49"/>
              </a:solidFill>
              <a:latin typeface="Source Serif Pro" pitchFamily="34" charset="0"/>
              <a:ea typeface="Source Serif Pro" pitchFamily="34" charset="-122"/>
            </a:endParaRPr>
          </a:p>
          <a:p>
            <a:pPr>
              <a:lnSpc>
                <a:spcPts val="2850"/>
              </a:lnSpc>
            </a:pP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The majority of users are members,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representing approximately 64% of the total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. This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indicates good user retention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and successful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 loyalty strategies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A05DAB-EF37-3F8B-7F33-BFBEC4349A30}"/>
              </a:ext>
            </a:extLst>
          </p:cNvPr>
          <p:cNvSpPr/>
          <p:nvPr/>
        </p:nvSpPr>
        <p:spPr>
          <a:xfrm>
            <a:off x="12903199" y="7759762"/>
            <a:ext cx="1625600" cy="4182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77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76795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Daily Usage Patterns: Understanding Weekly Trends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55924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Weekday Usage</a:t>
            </a:r>
          </a:p>
        </p:txBody>
      </p:sp>
      <p:sp>
        <p:nvSpPr>
          <p:cNvPr id="4" name="Text 2"/>
          <p:cNvSpPr/>
          <p:nvPr/>
        </p:nvSpPr>
        <p:spPr>
          <a:xfrm>
            <a:off x="793790" y="617358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Both member and casual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users exhibit distinct patterns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.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Members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have consistent usage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throughout the week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, while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casual riders peak on weekends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99521" y="5592445"/>
            <a:ext cx="30655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Peak Ride Days</a:t>
            </a:r>
          </a:p>
          <a:p>
            <a:pPr marL="0" indent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6144086"/>
            <a:ext cx="6244709" cy="159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The total number of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rides is highest on Sunday (993,358)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, followed by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Thursday (985,015)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. This may indicate that the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service is popular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both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for leisure activities on weekends and for commuting during the week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E35379-281E-DCDE-76E9-770EA8ADFF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80" r="42573"/>
          <a:stretch/>
        </p:blipFill>
        <p:spPr>
          <a:xfrm>
            <a:off x="517089" y="3164893"/>
            <a:ext cx="7490089" cy="17661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7CB2014-98D3-4E6A-6D27-D5A5D3D19A29}"/>
              </a:ext>
            </a:extLst>
          </p:cNvPr>
          <p:cNvSpPr/>
          <p:nvPr/>
        </p:nvSpPr>
        <p:spPr>
          <a:xfrm>
            <a:off x="12903200" y="7765143"/>
            <a:ext cx="1625600" cy="348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06894696-B76E-3D64-BDD5-A67C31345F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058" t="7980"/>
          <a:stretch/>
        </p:blipFill>
        <p:spPr>
          <a:xfrm>
            <a:off x="9364531" y="3623773"/>
            <a:ext cx="2600983" cy="1766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1409" y="51410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Frequency of Rides by Hour</a:t>
            </a:r>
          </a:p>
          <a:p>
            <a:pPr marL="0" indent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868285" y="6323042"/>
            <a:ext cx="13042820" cy="1911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The highest frequency of rides occurs at midnight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(hour 0) with 6,313,245 rides,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likely due to system resets or end-of-day processing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. Ride frequency increases from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hour 7, indicating significant morning commute usage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. The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lowest frequency is between hours 4 and 6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, with the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lowest at hour 5 with 1,205 rides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. Understanding this pattern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helps optimize service availability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and improve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user experience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03374F-8095-7388-434F-412363C02CE2}"/>
              </a:ext>
            </a:extLst>
          </p:cNvPr>
          <p:cNvSpPr/>
          <p:nvPr/>
        </p:nvSpPr>
        <p:spPr>
          <a:xfrm>
            <a:off x="12903200" y="7765143"/>
            <a:ext cx="1625600" cy="348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lide2" descr="Sheet 4">
            <a:extLst>
              <a:ext uri="{FF2B5EF4-FFF2-40B4-BE49-F238E27FC236}">
                <a16:creationId xmlns:a16="http://schemas.microsoft.com/office/drawing/2014/main" id="{71F386FE-7035-E24D-22EC-C78DAB90E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70" y="1382412"/>
            <a:ext cx="9660232" cy="47885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Maximum Ride Length Analysis</a:t>
            </a:r>
          </a:p>
          <a:p>
            <a:pPr marL="0" indent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89" y="4622244"/>
            <a:ext cx="7556421" cy="175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The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data suggests unusually long ride times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that likely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indicate errors or anomalies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. It's important to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validate and clean the data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to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ensure accurate analysis and insights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967D58-1CA1-636D-D6D2-B3E4AFF16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47" y="0"/>
            <a:ext cx="5660571" cy="82136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3F34335-0199-F3FB-E378-7133D20F98F4}"/>
              </a:ext>
            </a:extLst>
          </p:cNvPr>
          <p:cNvSpPr/>
          <p:nvPr/>
        </p:nvSpPr>
        <p:spPr>
          <a:xfrm>
            <a:off x="12903200" y="7765143"/>
            <a:ext cx="1625600" cy="348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D6CB1-6433-EC9E-1061-D2903343E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E0B357-B74F-7CB4-0014-3330E16B8DAB}"/>
              </a:ext>
            </a:extLst>
          </p:cNvPr>
          <p:cNvSpPr/>
          <p:nvPr/>
        </p:nvSpPr>
        <p:spPr>
          <a:xfrm>
            <a:off x="793789" y="76795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User Behavior During Different Seasons (Members vs Casual Users)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755307-4CAF-BDCF-F539-616F1128AB3A}"/>
              </a:ext>
            </a:extLst>
          </p:cNvPr>
          <p:cNvSpPr/>
          <p:nvPr/>
        </p:nvSpPr>
        <p:spPr>
          <a:xfrm>
            <a:off x="793790" y="6518778"/>
            <a:ext cx="1304282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The highest number of rides for both groups occurs in summer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, indicating a peak in usage during this season.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Members have significantly more rides in all seasons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, suggesting a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strong loyalty and regular usage pattern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among </a:t>
            </a:r>
            <a:r>
              <a:rPr lang="en-US" dirty="0" err="1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them.</a:t>
            </a:r>
            <a:r>
              <a:rPr lang="en-US" b="1" dirty="0" err="1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Casual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 users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also show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increased activity in summer and fall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, likely due to favorable weather conditions.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91AD16-57EA-C443-0AB6-DEAC3EEC7F55}"/>
              </a:ext>
            </a:extLst>
          </p:cNvPr>
          <p:cNvSpPr/>
          <p:nvPr/>
        </p:nvSpPr>
        <p:spPr>
          <a:xfrm>
            <a:off x="12903200" y="7765143"/>
            <a:ext cx="1625600" cy="348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slide2" descr="Sheet 5">
            <a:extLst>
              <a:ext uri="{FF2B5EF4-FFF2-40B4-BE49-F238E27FC236}">
                <a16:creationId xmlns:a16="http://schemas.microsoft.com/office/drawing/2014/main" id="{EC90A8C5-D545-733A-6D2D-691D461BA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89" y="2823911"/>
            <a:ext cx="9169400" cy="305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672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8D004-1115-A03E-C80E-838C9BF68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429109-F123-B8BF-3FC6-DF6B683ADEBA}"/>
              </a:ext>
            </a:extLst>
          </p:cNvPr>
          <p:cNvSpPr/>
          <p:nvPr/>
        </p:nvSpPr>
        <p:spPr>
          <a:xfrm>
            <a:off x="793789" y="76795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Daily Usage Patterns: Understanding Weekly Trends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7783E8-9155-4669-E1F1-579F4EE7144F}"/>
              </a:ext>
            </a:extLst>
          </p:cNvPr>
          <p:cNvSpPr/>
          <p:nvPr/>
        </p:nvSpPr>
        <p:spPr>
          <a:xfrm>
            <a:off x="793790" y="55924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High Usage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F95AD9-55E5-4FE0-59EE-9676BC56245E}"/>
              </a:ext>
            </a:extLst>
          </p:cNvPr>
          <p:cNvSpPr/>
          <p:nvPr/>
        </p:nvSpPr>
        <p:spPr>
          <a:xfrm>
            <a:off x="793790" y="617358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The "Unknown" station </a:t>
            </a: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has an </a:t>
            </a:r>
            <a:r>
              <a:rPr lang="en-US" sz="17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exceptionally high number of rides</a:t>
            </a: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, which may </a:t>
            </a:r>
            <a:r>
              <a:rPr lang="en-US" sz="17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indicate data recording issues or a large number of unregistered start locations</a:t>
            </a: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D627C2-D991-61F7-38BB-93EB593357D2}"/>
              </a:ext>
            </a:extLst>
          </p:cNvPr>
          <p:cNvSpPr/>
          <p:nvPr/>
        </p:nvSpPr>
        <p:spPr>
          <a:xfrm>
            <a:off x="7599521" y="5592445"/>
            <a:ext cx="30655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Popular Stations</a:t>
            </a:r>
          </a:p>
          <a:p>
            <a:pPr marL="0" indent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4B51980-D5B9-63AB-4A67-DF98E79351DB}"/>
              </a:ext>
            </a:extLst>
          </p:cNvPr>
          <p:cNvSpPr/>
          <p:nvPr/>
        </p:nvSpPr>
        <p:spPr>
          <a:xfrm>
            <a:off x="7599521" y="617358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The </a:t>
            </a:r>
            <a:r>
              <a:rPr lang="en-US" sz="17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most popular stations are located in central and high-traffic areas</a:t>
            </a: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, indicating their </a:t>
            </a:r>
            <a:r>
              <a:rPr lang="en-US" sz="17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importance for commuting and leisure activities.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A09C87-23C5-3E3A-6220-DEA9649F8FD7}"/>
              </a:ext>
            </a:extLst>
          </p:cNvPr>
          <p:cNvSpPr/>
          <p:nvPr/>
        </p:nvSpPr>
        <p:spPr>
          <a:xfrm>
            <a:off x="12903200" y="7765143"/>
            <a:ext cx="1625600" cy="348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37CB1B-C5A4-B96F-FDAD-653467E73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781" y="2364693"/>
            <a:ext cx="3210373" cy="32770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7382C3-6AAC-CC1C-A84B-786C6A25C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5248" y="2364693"/>
            <a:ext cx="2838846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79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88" y="3426557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Findings and Recommendations: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89" y="4573952"/>
            <a:ext cx="13042821" cy="292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Popular Stations: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The most popular stations are located in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central, high-traffic areas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, highlighting their importance for commuting and leisure activities.</a:t>
            </a:r>
          </a:p>
          <a:p>
            <a:pPr algn="l"/>
            <a:endParaRPr lang="en-US" dirty="0">
              <a:solidFill>
                <a:srgbClr val="504C49"/>
              </a:solidFill>
              <a:latin typeface="Source Serif Pro" pitchFamily="34" charset="0"/>
              <a:ea typeface="Source Serif Pro" pitchFamily="34" charset="-122"/>
            </a:endParaRPr>
          </a:p>
          <a:p>
            <a:pPr algn="l"/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Annual Members' Engagement: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Annual members take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significantly more trips than casual users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, indicating a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higher level of engagement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with the service.</a:t>
            </a:r>
          </a:p>
          <a:p>
            <a:pPr algn="l"/>
            <a:endParaRPr lang="en-US" dirty="0">
              <a:solidFill>
                <a:srgbClr val="504C49"/>
              </a:solidFill>
              <a:latin typeface="Source Serif Pro" pitchFamily="34" charset="0"/>
              <a:ea typeface="Source Serif Pro" pitchFamily="34" charset="-122"/>
            </a:endParaRPr>
          </a:p>
          <a:p>
            <a:pPr algn="l"/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User Retention: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Members constitute approximately 64% of the total users, reflecting successful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user retention and loyalty strategies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.</a:t>
            </a:r>
          </a:p>
          <a:p>
            <a:pPr algn="l"/>
            <a:endParaRPr lang="en-US" dirty="0">
              <a:solidFill>
                <a:srgbClr val="504C49"/>
              </a:solidFill>
              <a:latin typeface="Source Serif Pro" pitchFamily="34" charset="0"/>
              <a:ea typeface="Source Serif Pro" pitchFamily="34" charset="-122"/>
            </a:endParaRPr>
          </a:p>
          <a:p>
            <a:pPr algn="l"/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Usage Patterns: Members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show consistent usage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throughout the week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, while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casual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users have peak usage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on weekends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112C84-8C3A-CF0B-9E27-4F83FD1EDCAC}"/>
              </a:ext>
            </a:extLst>
          </p:cNvPr>
          <p:cNvSpPr/>
          <p:nvPr/>
        </p:nvSpPr>
        <p:spPr>
          <a:xfrm>
            <a:off x="12903200" y="7765143"/>
            <a:ext cx="1625600" cy="348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1639-B6D4-BA88-AC9E-AC2CBC401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8D1E707-4D1F-B2E3-864D-614C4795E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6CBE40A-4EF8-9150-0A98-4445D1B0198F}"/>
              </a:ext>
            </a:extLst>
          </p:cNvPr>
          <p:cNvSpPr/>
          <p:nvPr/>
        </p:nvSpPr>
        <p:spPr>
          <a:xfrm>
            <a:off x="12903200" y="7765143"/>
            <a:ext cx="1625600" cy="348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BFEC5BE6-79C4-FB3E-0BFC-2B8BB40947A4}"/>
              </a:ext>
            </a:extLst>
          </p:cNvPr>
          <p:cNvSpPr/>
          <p:nvPr/>
        </p:nvSpPr>
        <p:spPr>
          <a:xfrm>
            <a:off x="793788" y="3426557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Recommendations for the Marketing Team:</a:t>
            </a:r>
            <a:endParaRPr lang="en-US" sz="445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D0AD7E1-4F60-8736-8BED-E1C1FED607B9}"/>
              </a:ext>
            </a:extLst>
          </p:cNvPr>
          <p:cNvSpPr/>
          <p:nvPr/>
        </p:nvSpPr>
        <p:spPr>
          <a:xfrm>
            <a:off x="793787" y="4844115"/>
            <a:ext cx="13042821" cy="292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Convert Casual Users to Annual Members: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Encourage casual users to become annual members by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highlighting the benefits of consistent use and loyalty advantages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.</a:t>
            </a:r>
          </a:p>
          <a:p>
            <a:endParaRPr lang="en-US" dirty="0">
              <a:solidFill>
                <a:srgbClr val="504C49"/>
              </a:solidFill>
              <a:latin typeface="Source Serif Pro" pitchFamily="34" charset="0"/>
              <a:ea typeface="Source Serif Pro" pitchFamily="34" charset="-122"/>
            </a:endParaRPr>
          </a:p>
          <a:p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Weekday Usage Campaigns: 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Focus on marketing campaigns that promote </a:t>
            </a:r>
            <a:r>
              <a:rPr lang="en-US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weekday usage for casual users, potentially converting them into annual members</a:t>
            </a:r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9005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1" y="137062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Suggestions for Future Analysis and Data Collection Improvements</a:t>
            </a:r>
          </a:p>
        </p:txBody>
      </p:sp>
      <p:sp>
        <p:nvSpPr>
          <p:cNvPr id="4" name="Text 1"/>
          <p:cNvSpPr/>
          <p:nvPr/>
        </p:nvSpPr>
        <p:spPr>
          <a:xfrm>
            <a:off x="6280190" y="3845695"/>
            <a:ext cx="7556421" cy="33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Conduct a deeper analysis of user demographics and trip characteristics to gain more detailed insights.</a:t>
            </a:r>
          </a:p>
          <a:p>
            <a:endParaRPr lang="en-US" dirty="0">
              <a:solidFill>
                <a:srgbClr val="504C49"/>
              </a:solidFill>
              <a:latin typeface="Source Serif Pro" pitchFamily="34" charset="0"/>
              <a:ea typeface="Source Serif Pro" pitchFamily="34" charset="-122"/>
            </a:endParaRPr>
          </a:p>
          <a:p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Enhance data collection to include user feedback on their experiences and preferences.</a:t>
            </a:r>
          </a:p>
          <a:p>
            <a:endParaRPr lang="en-US" dirty="0">
              <a:solidFill>
                <a:srgbClr val="504C49"/>
              </a:solidFill>
              <a:latin typeface="Source Serif Pro" pitchFamily="34" charset="0"/>
              <a:ea typeface="Source Serif Pro" pitchFamily="34" charset="-122"/>
            </a:endParaRPr>
          </a:p>
          <a:p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Develop targeted campaigns to increase weekday usage among casual users.</a:t>
            </a:r>
          </a:p>
          <a:p>
            <a:endParaRPr lang="en-US" dirty="0">
              <a:solidFill>
                <a:srgbClr val="504C49"/>
              </a:solidFill>
              <a:latin typeface="Source Serif Pro" pitchFamily="34" charset="0"/>
              <a:ea typeface="Source Serif Pro" pitchFamily="34" charset="-122"/>
            </a:endParaRPr>
          </a:p>
          <a:p>
            <a:r>
              <a:rPr lang="en-US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Create loyalty programs that encourage casual users to transition to annual memberships by highlighting long-term benefits.</a:t>
            </a:r>
          </a:p>
          <a:p>
            <a:pPr algn="l"/>
            <a:endParaRPr lang="en-US" sz="16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5161CA-678A-8997-399F-62400C4D7C0D}"/>
              </a:ext>
            </a:extLst>
          </p:cNvPr>
          <p:cNvSpPr/>
          <p:nvPr/>
        </p:nvSpPr>
        <p:spPr>
          <a:xfrm>
            <a:off x="12903200" y="7765143"/>
            <a:ext cx="1625600" cy="348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6173</TotalTime>
  <Words>800</Words>
  <Application>Microsoft Office PowerPoint</Application>
  <PresentationFormat>Personalizar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Platypi Medium</vt:lpstr>
      <vt:lpstr>Source Serif Pro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Felipe Laranja</cp:lastModifiedBy>
  <cp:revision>5</cp:revision>
  <dcterms:created xsi:type="dcterms:W3CDTF">2025-01-07T18:09:36Z</dcterms:created>
  <dcterms:modified xsi:type="dcterms:W3CDTF">2025-01-29T21:13:08Z</dcterms:modified>
</cp:coreProperties>
</file>